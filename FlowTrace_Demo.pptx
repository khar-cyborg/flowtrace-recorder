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45720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82296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943600" y="118872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943600" y="155448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943600" y="192024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943600" y="228600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943600" y="265176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0" y="301752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0" y="338328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0" y="374904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0" y="411480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5943600" y="448056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309360" y="45720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309360" y="82296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309360" y="118872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309360" y="155448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309360" y="192024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309360" y="228600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309360" y="265176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309360" y="301752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309360" y="338328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309360" y="374904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309360" y="411480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309360" y="448056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675120" y="45720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0" y="82296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675120" y="118872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675120" y="155448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675120" y="192024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675120" y="228600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675120" y="265176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675120" y="301752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0" y="338328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675120" y="374904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675120" y="411480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675120" y="448056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040880" y="45720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7040880" y="82296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040880" y="118872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040880" y="155448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7040880" y="192024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040880" y="228600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040880" y="265176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040880" y="301752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040880" y="338328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040880" y="374904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040880" y="411480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040880" y="448056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406640" y="45720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406640" y="82296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406640" y="118872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406640" y="155448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406640" y="192024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406640" y="228600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406640" y="265176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406640" y="301752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7406640" y="338328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406640" y="374904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7406640" y="411480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7406640" y="448056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7772400" y="45720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7772400" y="82296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7772400" y="118872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7772400" y="155448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7772400" y="192024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7772400" y="228600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7772400" y="265176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7772400" y="301752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7772400" y="338328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7772400" y="374904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7772400" y="411480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7772400" y="448056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8138160" y="45720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8138160" y="82296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8138160" y="118872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78" name="Shape 76"/>
          <p:cNvSpPr/>
          <p:nvPr/>
        </p:nvSpPr>
        <p:spPr>
          <a:xfrm>
            <a:off x="8138160" y="155448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79" name="Shape 77"/>
          <p:cNvSpPr/>
          <p:nvPr/>
        </p:nvSpPr>
        <p:spPr>
          <a:xfrm>
            <a:off x="8138160" y="192024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80" name="Shape 78"/>
          <p:cNvSpPr/>
          <p:nvPr/>
        </p:nvSpPr>
        <p:spPr>
          <a:xfrm>
            <a:off x="8138160" y="228600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81" name="Shape 79"/>
          <p:cNvSpPr/>
          <p:nvPr/>
        </p:nvSpPr>
        <p:spPr>
          <a:xfrm>
            <a:off x="8138160" y="265176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82" name="Shape 80"/>
          <p:cNvSpPr/>
          <p:nvPr/>
        </p:nvSpPr>
        <p:spPr>
          <a:xfrm>
            <a:off x="8138160" y="301752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83" name="Shape 81"/>
          <p:cNvSpPr/>
          <p:nvPr/>
        </p:nvSpPr>
        <p:spPr>
          <a:xfrm>
            <a:off x="8138160" y="338328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84" name="Shape 82"/>
          <p:cNvSpPr/>
          <p:nvPr/>
        </p:nvSpPr>
        <p:spPr>
          <a:xfrm>
            <a:off x="8138160" y="374904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85" name="Shape 83"/>
          <p:cNvSpPr/>
          <p:nvPr/>
        </p:nvSpPr>
        <p:spPr>
          <a:xfrm>
            <a:off x="8138160" y="411480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86" name="Shape 84"/>
          <p:cNvSpPr/>
          <p:nvPr/>
        </p:nvSpPr>
        <p:spPr>
          <a:xfrm>
            <a:off x="8138160" y="448056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87" name="Shape 85"/>
          <p:cNvSpPr/>
          <p:nvPr/>
        </p:nvSpPr>
        <p:spPr>
          <a:xfrm>
            <a:off x="8503920" y="45720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88" name="Shape 86"/>
          <p:cNvSpPr/>
          <p:nvPr/>
        </p:nvSpPr>
        <p:spPr>
          <a:xfrm>
            <a:off x="8503920" y="82296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89" name="Shape 87"/>
          <p:cNvSpPr/>
          <p:nvPr/>
        </p:nvSpPr>
        <p:spPr>
          <a:xfrm>
            <a:off x="8503920" y="118872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90" name="Shape 88"/>
          <p:cNvSpPr/>
          <p:nvPr/>
        </p:nvSpPr>
        <p:spPr>
          <a:xfrm>
            <a:off x="8503920" y="155448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91" name="Shape 89"/>
          <p:cNvSpPr/>
          <p:nvPr/>
        </p:nvSpPr>
        <p:spPr>
          <a:xfrm>
            <a:off x="8503920" y="192024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92" name="Shape 90"/>
          <p:cNvSpPr/>
          <p:nvPr/>
        </p:nvSpPr>
        <p:spPr>
          <a:xfrm>
            <a:off x="8503920" y="228600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93" name="Shape 91"/>
          <p:cNvSpPr/>
          <p:nvPr/>
        </p:nvSpPr>
        <p:spPr>
          <a:xfrm>
            <a:off x="8503920" y="265176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94" name="Shape 92"/>
          <p:cNvSpPr/>
          <p:nvPr/>
        </p:nvSpPr>
        <p:spPr>
          <a:xfrm>
            <a:off x="8503920" y="301752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95" name="Shape 93"/>
          <p:cNvSpPr/>
          <p:nvPr/>
        </p:nvSpPr>
        <p:spPr>
          <a:xfrm>
            <a:off x="8503920" y="338328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96" name="Shape 94"/>
          <p:cNvSpPr/>
          <p:nvPr/>
        </p:nvSpPr>
        <p:spPr>
          <a:xfrm>
            <a:off x="8503920" y="374904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97" name="Shape 95"/>
          <p:cNvSpPr/>
          <p:nvPr/>
        </p:nvSpPr>
        <p:spPr>
          <a:xfrm>
            <a:off x="8503920" y="411480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98" name="Shape 96"/>
          <p:cNvSpPr/>
          <p:nvPr/>
        </p:nvSpPr>
        <p:spPr>
          <a:xfrm>
            <a:off x="8503920" y="448056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99" name="Shape 97"/>
          <p:cNvSpPr/>
          <p:nvPr/>
        </p:nvSpPr>
        <p:spPr>
          <a:xfrm>
            <a:off x="8869680" y="45720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100" name="Shape 98"/>
          <p:cNvSpPr/>
          <p:nvPr/>
        </p:nvSpPr>
        <p:spPr>
          <a:xfrm>
            <a:off x="8869680" y="82296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101" name="Shape 99"/>
          <p:cNvSpPr/>
          <p:nvPr/>
        </p:nvSpPr>
        <p:spPr>
          <a:xfrm>
            <a:off x="8869680" y="118872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102" name="Shape 100"/>
          <p:cNvSpPr/>
          <p:nvPr/>
        </p:nvSpPr>
        <p:spPr>
          <a:xfrm>
            <a:off x="8869680" y="155448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103" name="Shape 101"/>
          <p:cNvSpPr/>
          <p:nvPr/>
        </p:nvSpPr>
        <p:spPr>
          <a:xfrm>
            <a:off x="8869680" y="192024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104" name="Shape 102"/>
          <p:cNvSpPr/>
          <p:nvPr/>
        </p:nvSpPr>
        <p:spPr>
          <a:xfrm>
            <a:off x="8869680" y="228600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105" name="Shape 103"/>
          <p:cNvSpPr/>
          <p:nvPr/>
        </p:nvSpPr>
        <p:spPr>
          <a:xfrm>
            <a:off x="8869680" y="265176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106" name="Shape 104"/>
          <p:cNvSpPr/>
          <p:nvPr/>
        </p:nvSpPr>
        <p:spPr>
          <a:xfrm>
            <a:off x="8869680" y="301752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107" name="Shape 105"/>
          <p:cNvSpPr/>
          <p:nvPr/>
        </p:nvSpPr>
        <p:spPr>
          <a:xfrm>
            <a:off x="8869680" y="338328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108" name="Shape 106"/>
          <p:cNvSpPr/>
          <p:nvPr/>
        </p:nvSpPr>
        <p:spPr>
          <a:xfrm>
            <a:off x="8869680" y="374904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109" name="Shape 107"/>
          <p:cNvSpPr/>
          <p:nvPr/>
        </p:nvSpPr>
        <p:spPr>
          <a:xfrm>
            <a:off x="8869680" y="411480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110" name="Shape 108"/>
          <p:cNvSpPr/>
          <p:nvPr/>
        </p:nvSpPr>
        <p:spPr>
          <a:xfrm>
            <a:off x="8869680" y="448056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111" name="Text 109"/>
          <p:cNvSpPr/>
          <p:nvPr/>
        </p:nvSpPr>
        <p:spPr>
          <a:xfrm>
            <a:off x="731520" y="109728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8EC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FlowTrace</a:t>
            </a:r>
            <a:endParaRPr lang="en-US" sz="4800" dirty="0"/>
          </a:p>
        </p:txBody>
      </p:sp>
      <p:sp>
        <p:nvSpPr>
          <p:cNvPr id="112" name="Shape 110"/>
          <p:cNvSpPr/>
          <p:nvPr/>
        </p:nvSpPr>
        <p:spPr>
          <a:xfrm>
            <a:off x="731520" y="2240280"/>
            <a:ext cx="22860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3" name="Text 111"/>
          <p:cNvSpPr/>
          <p:nvPr/>
        </p:nvSpPr>
        <p:spPr>
          <a:xfrm>
            <a:off x="731520" y="24688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Evidence Recorder</a:t>
            </a:r>
            <a:endParaRPr lang="en-US" sz="2200" dirty="0"/>
          </a:p>
        </p:txBody>
      </p:sp>
      <p:sp>
        <p:nvSpPr>
          <p:cNvPr id="114" name="Text 112"/>
          <p:cNvSpPr/>
          <p:nvPr/>
        </p:nvSpPr>
        <p:spPr>
          <a:xfrm>
            <a:off x="731520" y="32004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Capture. Annotate. Export.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test documentation in minutes.</a:t>
            </a:r>
            <a:endParaRPr lang="en-US" sz="1400" dirty="0"/>
          </a:p>
        </p:txBody>
      </p:sp>
      <p:sp>
        <p:nvSpPr>
          <p:cNvPr id="115" name="Shape 113"/>
          <p:cNvSpPr/>
          <p:nvPr/>
        </p:nvSpPr>
        <p:spPr>
          <a:xfrm>
            <a:off x="731520" y="4206240"/>
            <a:ext cx="640080" cy="292608"/>
          </a:xfrm>
          <a:prstGeom prst="rect">
            <a:avLst/>
          </a:prstGeom>
          <a:solidFill>
            <a:srgbClr val="252A37"/>
          </a:solidFill>
          <a:ln/>
        </p:spPr>
      </p:sp>
      <p:sp>
        <p:nvSpPr>
          <p:cNvPr id="116" name="Text 114"/>
          <p:cNvSpPr/>
          <p:nvPr/>
        </p:nvSpPr>
        <p:spPr>
          <a:xfrm>
            <a:off x="731520" y="420624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v2.0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C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164592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test documentation is broken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3749040" cy="137160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45920"/>
            <a:ext cx="45720" cy="137160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6596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828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Consuming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417320" y="21945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Testers spend 40% of their time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documenting instead of testing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63440" y="1645920"/>
            <a:ext cx="3749040" cy="137160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1645920"/>
            <a:ext cx="45720" cy="137160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96596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40680" y="1828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Evidence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440680" y="21945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get lost, steps are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missed, reports vary by tester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40080" y="3246120"/>
            <a:ext cx="3749040" cy="137160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0080" y="3246120"/>
            <a:ext cx="45720" cy="137160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56616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1732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Errors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417320" y="37947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Copy-paste mistakes, wrong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attached to wrong steps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663440" y="3246120"/>
            <a:ext cx="3749040" cy="137160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663440" y="3246120"/>
            <a:ext cx="45720" cy="137160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566160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4068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Automation Bridge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5440680" y="37947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evidence can't be converted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automation scripts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640080" y="4480560"/>
            <a:ext cx="7863840" cy="411480"/>
          </a:xfrm>
          <a:prstGeom prst="rect">
            <a:avLst/>
          </a:prstGeom>
          <a:solidFill>
            <a:srgbClr val="252A37"/>
          </a:solidFill>
          <a:ln/>
        </p:spPr>
      </p:sp>
      <p:sp>
        <p:nvSpPr>
          <p:cNvPr id="26" name="Text 20"/>
          <p:cNvSpPr/>
          <p:nvPr/>
        </p:nvSpPr>
        <p:spPr>
          <a:xfrm>
            <a:off x="640080" y="44805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FlowTrace eliminates all of this with one-click recording and automated exports.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C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777240"/>
            <a:ext cx="164592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051560"/>
            <a:ext cx="2468880" cy="123444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280160"/>
            <a:ext cx="502920" cy="502920"/>
          </a:xfrm>
          <a:prstGeom prst="ellipse">
            <a:avLst/>
          </a:prstGeom>
          <a:solidFill>
            <a:srgbClr val="252A3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353312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1887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Recording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463040" y="15087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Auto-capture mouse clicks,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 input &amp; screenshots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37560" y="1051560"/>
            <a:ext cx="2468880" cy="123444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20440" y="1280160"/>
            <a:ext cx="502920" cy="502920"/>
          </a:xfrm>
          <a:prstGeom prst="ellipse">
            <a:avLst/>
          </a:prstGeom>
          <a:solidFill>
            <a:srgbClr val="252A3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592" y="1353312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60520" y="11887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Recording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160520" y="15087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Playwright-powered browser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 with CSS selectors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035040" y="1051560"/>
            <a:ext cx="2468880" cy="123444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17920" y="1280160"/>
            <a:ext cx="502920" cy="502920"/>
          </a:xfrm>
          <a:prstGeom prst="ellipse">
            <a:avLst/>
          </a:prstGeom>
          <a:solidFill>
            <a:srgbClr val="252A37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1353312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58000" y="11887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Annotation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858000" y="15087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red highlight boxes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on screenshots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40080" y="2468880"/>
            <a:ext cx="2468880" cy="123444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22960" y="2697480"/>
            <a:ext cx="502920" cy="502920"/>
          </a:xfrm>
          <a:prstGeom prst="ellipse">
            <a:avLst/>
          </a:prstGeom>
          <a:solidFill>
            <a:srgbClr val="252A37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2770632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63040" y="2606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Multi-Format Export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1463040" y="29260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DOCX, PDF, HTML reports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PyAutoGUI scripts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337560" y="2468880"/>
            <a:ext cx="2468880" cy="123444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520440" y="2697480"/>
            <a:ext cx="502920" cy="502920"/>
          </a:xfrm>
          <a:prstGeom prst="ellipse">
            <a:avLst/>
          </a:prstGeom>
          <a:solidFill>
            <a:srgbClr val="252A37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3592" y="2770632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160520" y="2606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Management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4160520" y="29260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Reorder, edit, add notes,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delete captured steps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035040" y="2468880"/>
            <a:ext cx="2468880" cy="123444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217920" y="2697480"/>
            <a:ext cx="502920" cy="502920"/>
          </a:xfrm>
          <a:prstGeom prst="ellipse">
            <a:avLst/>
          </a:prstGeom>
          <a:solidFill>
            <a:srgbClr val="252A37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1072" y="2770632"/>
            <a:ext cx="347472" cy="34747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858000" y="2606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Library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6858000" y="29260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curated AI prompts for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test automation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640080" y="3657600"/>
            <a:ext cx="7863840" cy="411480"/>
          </a:xfrm>
          <a:prstGeom prst="rect">
            <a:avLst/>
          </a:prstGeom>
          <a:solidFill>
            <a:srgbClr val="252A37"/>
          </a:solidFill>
          <a:ln/>
        </p:spPr>
      </p:sp>
      <p:sp>
        <p:nvSpPr>
          <p:cNvPr id="35" name="Text 27"/>
          <p:cNvSpPr/>
          <p:nvPr/>
        </p:nvSpPr>
        <p:spPr>
          <a:xfrm>
            <a:off x="640080" y="37033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5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Formats</a:t>
            </a:r>
            <a:endParaRPr lang="en-US" sz="900" dirty="0"/>
          </a:p>
        </p:txBody>
      </p:sp>
      <p:sp>
        <p:nvSpPr>
          <p:cNvPr id="36" name="Shape 28"/>
          <p:cNvSpPr/>
          <p:nvPr/>
        </p:nvSpPr>
        <p:spPr>
          <a:xfrm>
            <a:off x="1371600" y="3730752"/>
            <a:ext cx="1188720" cy="2560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7" name="Text 29"/>
          <p:cNvSpPr/>
          <p:nvPr/>
        </p:nvSpPr>
        <p:spPr>
          <a:xfrm>
            <a:off x="1371600" y="37307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DOCX</a:t>
            </a:r>
            <a:endParaRPr lang="en-US" sz="1000" dirty="0"/>
          </a:p>
        </p:txBody>
      </p:sp>
      <p:sp>
        <p:nvSpPr>
          <p:cNvPr id="38" name="Shape 30"/>
          <p:cNvSpPr/>
          <p:nvPr/>
        </p:nvSpPr>
        <p:spPr>
          <a:xfrm>
            <a:off x="3200400" y="3730752"/>
            <a:ext cx="1188720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9" name="Text 31"/>
          <p:cNvSpPr/>
          <p:nvPr/>
        </p:nvSpPr>
        <p:spPr>
          <a:xfrm>
            <a:off x="3200400" y="37307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000" dirty="0"/>
          </a:p>
        </p:txBody>
      </p:sp>
      <p:sp>
        <p:nvSpPr>
          <p:cNvPr id="40" name="Shape 32"/>
          <p:cNvSpPr/>
          <p:nvPr/>
        </p:nvSpPr>
        <p:spPr>
          <a:xfrm>
            <a:off x="5029200" y="3730752"/>
            <a:ext cx="1188720" cy="256032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1" name="Text 33"/>
          <p:cNvSpPr/>
          <p:nvPr/>
        </p:nvSpPr>
        <p:spPr>
          <a:xfrm>
            <a:off x="5029200" y="37307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000" dirty="0"/>
          </a:p>
        </p:txBody>
      </p:sp>
      <p:sp>
        <p:nvSpPr>
          <p:cNvPr id="42" name="Shape 34"/>
          <p:cNvSpPr/>
          <p:nvPr/>
        </p:nvSpPr>
        <p:spPr>
          <a:xfrm>
            <a:off x="6858000" y="3730752"/>
            <a:ext cx="1188720" cy="25603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3" name="Text 35"/>
          <p:cNvSpPr/>
          <p:nvPr/>
        </p:nvSpPr>
        <p:spPr>
          <a:xfrm>
            <a:off x="6858000" y="37307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PyAutoGUI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C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777240"/>
            <a:ext cx="1645920" cy="3657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simple steps to professional test documentation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2468880" cy="283464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08760"/>
            <a:ext cx="246888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916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0" y="173736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21945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22960" y="2560320"/>
            <a:ext cx="2103120" cy="18288"/>
          </a:xfrm>
          <a:prstGeom prst="rect">
            <a:avLst/>
          </a:prstGeom>
          <a:solidFill>
            <a:srgbClr val="2A2F3E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265176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'Start Recording'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your test as normal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captured automatically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notes on-the-fly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timer tracks duration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172968" y="26060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65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3520440" y="1508760"/>
            <a:ext cx="2468880" cy="283464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520440" y="1508760"/>
            <a:ext cx="246888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2"/>
          <p:cNvSpPr/>
          <p:nvPr/>
        </p:nvSpPr>
        <p:spPr>
          <a:xfrm>
            <a:off x="3703320" y="16916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8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737360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703320" y="21945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3703320" y="2560320"/>
            <a:ext cx="2103120" cy="18288"/>
          </a:xfrm>
          <a:prstGeom prst="rect">
            <a:avLst/>
          </a:prstGeom>
          <a:solidFill>
            <a:srgbClr val="2A2F3E"/>
          </a:solidFill>
          <a:ln/>
        </p:spPr>
      </p:sp>
      <p:sp>
        <p:nvSpPr>
          <p:cNvPr id="19" name="Text 15"/>
          <p:cNvSpPr/>
          <p:nvPr/>
        </p:nvSpPr>
        <p:spPr>
          <a:xfrm>
            <a:off x="3703320" y="265176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steps shown visually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descriptions inline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 screenshots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Reorder, delete, or add notes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 before export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6053328" y="26060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65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1" name="Shape 17"/>
          <p:cNvSpPr/>
          <p:nvPr/>
        </p:nvSpPr>
        <p:spPr>
          <a:xfrm>
            <a:off x="6400800" y="1508760"/>
            <a:ext cx="2468880" cy="283464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400800" y="1508760"/>
            <a:ext cx="2468880" cy="4572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3" name="Text 19"/>
          <p:cNvSpPr/>
          <p:nvPr/>
        </p:nvSpPr>
        <p:spPr>
          <a:xfrm>
            <a:off x="6583680" y="16916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A85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8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737360"/>
            <a:ext cx="365760" cy="36576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583680" y="21945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6583680" y="2560320"/>
            <a:ext cx="2103120" cy="18288"/>
          </a:xfrm>
          <a:prstGeom prst="rect">
            <a:avLst/>
          </a:prstGeom>
          <a:solidFill>
            <a:srgbClr val="2A2F3E"/>
          </a:solidFill>
          <a:ln/>
        </p:spPr>
      </p:sp>
      <p:sp>
        <p:nvSpPr>
          <p:cNvPr id="27" name="Text 22"/>
          <p:cNvSpPr/>
          <p:nvPr/>
        </p:nvSpPr>
        <p:spPr>
          <a:xfrm>
            <a:off x="6583680" y="265176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Choose: DOCX, PDF, or HTML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report instantly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as automation script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with stakeholders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evidence in one file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C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Test, Two Outputs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777240"/>
            <a:ext cx="2011680" cy="3657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601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once. Get documentation AND automation. No duplicate effort.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383280" y="1554480"/>
            <a:ext cx="2377440" cy="91440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0" y="17373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206240" y="1645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Test Session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206240" y="20116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once in FlowTrace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56032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65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↙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457200" y="2926080"/>
            <a:ext cx="3840480" cy="192024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" y="2926080"/>
            <a:ext cx="3840480" cy="45720"/>
          </a:xfrm>
          <a:prstGeom prst="rect">
            <a:avLst/>
          </a:prstGeom>
          <a:solidFill>
            <a:srgbClr val="A855F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10896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88720" y="30906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Documentation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188720" y="33832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stakeholders, compliance &amp; audit trails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85800" y="3749040"/>
            <a:ext cx="3383280" cy="18288"/>
          </a:xfrm>
          <a:prstGeom prst="rect">
            <a:avLst/>
          </a:prstGeom>
          <a:solidFill>
            <a:srgbClr val="2A2F3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858768"/>
            <a:ext cx="201168" cy="2011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51560" y="38404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DOCX Reports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2148840" y="38404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Formatted Word docs with screenshots</a:t>
            </a:r>
            <a:endParaRPr lang="en-US" sz="9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178808"/>
            <a:ext cx="201168" cy="20116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51560" y="4160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Reports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2148840" y="41605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Print-ready documents with headers/footers</a:t>
            </a:r>
            <a:endParaRPr lang="en-US" sz="9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498848"/>
            <a:ext cx="201168" cy="20116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051560" y="44805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Reports</a:t>
            </a: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2148840" y="44805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Single-file reports viewable in any browser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612648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65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↘</a:t>
            </a:r>
            <a:endParaRPr lang="en-US" sz="2000" dirty="0"/>
          </a:p>
        </p:txBody>
      </p:sp>
      <p:sp>
        <p:nvSpPr>
          <p:cNvPr id="26" name="Shape 19"/>
          <p:cNvSpPr/>
          <p:nvPr/>
        </p:nvSpPr>
        <p:spPr>
          <a:xfrm>
            <a:off x="4846320" y="2926080"/>
            <a:ext cx="3840480" cy="192024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4846320" y="2926080"/>
            <a:ext cx="3840480" cy="45720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3108960"/>
            <a:ext cx="365760" cy="36576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577840" y="30906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Suite</a:t>
            </a:r>
            <a:endParaRPr lang="en-US" sz="1600" dirty="0"/>
          </a:p>
        </p:txBody>
      </p:sp>
      <p:sp>
        <p:nvSpPr>
          <p:cNvPr id="30" name="Text 22"/>
          <p:cNvSpPr/>
          <p:nvPr/>
        </p:nvSpPr>
        <p:spPr>
          <a:xfrm>
            <a:off x="5577840" y="33832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Ready-to-run scripts from the same test session</a:t>
            </a:r>
            <a:endParaRPr lang="en-US" sz="1000" dirty="0"/>
          </a:p>
        </p:txBody>
      </p:sp>
      <p:sp>
        <p:nvSpPr>
          <p:cNvPr id="31" name="Shape 23"/>
          <p:cNvSpPr/>
          <p:nvPr/>
        </p:nvSpPr>
        <p:spPr>
          <a:xfrm>
            <a:off x="5074920" y="3749040"/>
            <a:ext cx="3383280" cy="18288"/>
          </a:xfrm>
          <a:prstGeom prst="rect">
            <a:avLst/>
          </a:prstGeom>
          <a:solidFill>
            <a:srgbClr val="2A2F3E"/>
          </a:solidFill>
          <a:ln/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0640" y="3858768"/>
            <a:ext cx="201168" cy="201168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5440680" y="38404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PyAutoGUI Scripts</a:t>
            </a:r>
            <a:endParaRPr lang="en-US" sz="1000" dirty="0"/>
          </a:p>
        </p:txBody>
      </p:sp>
      <p:sp>
        <p:nvSpPr>
          <p:cNvPr id="34" name="Text 25"/>
          <p:cNvSpPr/>
          <p:nvPr/>
        </p:nvSpPr>
        <p:spPr>
          <a:xfrm>
            <a:off x="6629400" y="38404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desktop clicks &amp; keystrokes</a:t>
            </a:r>
            <a:endParaRPr lang="en-US" sz="900" dirty="0"/>
          </a:p>
        </p:txBody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20640" y="4178808"/>
            <a:ext cx="201168" cy="201168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5440680" y="41605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Codegen</a:t>
            </a:r>
            <a:endParaRPr lang="en-US" sz="1000" dirty="0"/>
          </a:p>
        </p:txBody>
      </p:sp>
      <p:sp>
        <p:nvSpPr>
          <p:cNvPr id="37" name="Text 27"/>
          <p:cNvSpPr/>
          <p:nvPr/>
        </p:nvSpPr>
        <p:spPr>
          <a:xfrm>
            <a:off x="6629400" y="4160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browser recorder for web tests</a:t>
            </a:r>
            <a:endParaRPr lang="en-US" sz="900" dirty="0"/>
          </a:p>
        </p:txBody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20640" y="4498848"/>
            <a:ext cx="201168" cy="201168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5440680" y="44805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Prompt Library</a:t>
            </a:r>
            <a:endParaRPr lang="en-US" sz="1000" dirty="0"/>
          </a:p>
        </p:txBody>
      </p:sp>
      <p:sp>
        <p:nvSpPr>
          <p:cNvPr id="40" name="Text 29"/>
          <p:cNvSpPr/>
          <p:nvPr/>
        </p:nvSpPr>
        <p:spPr>
          <a:xfrm>
            <a:off x="6629400" y="44805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prompts to generate full test suites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C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777240"/>
            <a:ext cx="137160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Python and industry-standard libraries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2743200" cy="146304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63040"/>
            <a:ext cx="2743200" cy="45720"/>
          </a:xfrm>
          <a:prstGeom prst="rect">
            <a:avLst/>
          </a:prstGeom>
          <a:solidFill>
            <a:srgbClr val="EAB30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69164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6459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508760" y="1920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68680" y="2240280"/>
            <a:ext cx="2286000" cy="18288"/>
          </a:xfrm>
          <a:prstGeom prst="rect">
            <a:avLst/>
          </a:prstGeom>
          <a:solidFill>
            <a:srgbClr val="2A2F3E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23317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Cross-platform, easy to maintain,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ecosystem for testing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automation workflows.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749040" y="1463040"/>
            <a:ext cx="1737360" cy="822960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13" name="Shape 10"/>
          <p:cNvSpPr/>
          <p:nvPr/>
        </p:nvSpPr>
        <p:spPr>
          <a:xfrm>
            <a:off x="3749040" y="1463040"/>
            <a:ext cx="36576" cy="82296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1645920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251960" y="15544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CustomTkinter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251960" y="184708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dark UI framework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5623560" y="1463040"/>
            <a:ext cx="1737360" cy="822960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18" name="Shape 14"/>
          <p:cNvSpPr/>
          <p:nvPr/>
        </p:nvSpPr>
        <p:spPr>
          <a:xfrm>
            <a:off x="5623560" y="1463040"/>
            <a:ext cx="36576" cy="822960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645920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126480" y="15544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6126480" y="184708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browser automation</a:t>
            </a:r>
            <a:endParaRPr lang="en-US" sz="800" dirty="0"/>
          </a:p>
        </p:txBody>
      </p:sp>
      <p:sp>
        <p:nvSpPr>
          <p:cNvPr id="22" name="Shape 17"/>
          <p:cNvSpPr/>
          <p:nvPr/>
        </p:nvSpPr>
        <p:spPr>
          <a:xfrm>
            <a:off x="7498080" y="1463040"/>
            <a:ext cx="1737360" cy="822960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23" name="Shape 18"/>
          <p:cNvSpPr/>
          <p:nvPr/>
        </p:nvSpPr>
        <p:spPr>
          <a:xfrm>
            <a:off x="7498080" y="1463040"/>
            <a:ext cx="36576" cy="82296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1645920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001000" y="15544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pynput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8001000" y="184708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 &amp; mouse capture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3749040" y="2395728"/>
            <a:ext cx="1737360" cy="822960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28" name="Shape 22"/>
          <p:cNvSpPr/>
          <p:nvPr/>
        </p:nvSpPr>
        <p:spPr>
          <a:xfrm>
            <a:off x="3749040" y="2395728"/>
            <a:ext cx="36576" cy="8229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6200" y="2578608"/>
            <a:ext cx="274320" cy="27432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4251960" y="248716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mss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4251960" y="2779776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screenshot capture</a:t>
            </a:r>
            <a:endParaRPr lang="en-US" sz="800" dirty="0"/>
          </a:p>
        </p:txBody>
      </p:sp>
      <p:sp>
        <p:nvSpPr>
          <p:cNvPr id="32" name="Shape 25"/>
          <p:cNvSpPr/>
          <p:nvPr/>
        </p:nvSpPr>
        <p:spPr>
          <a:xfrm>
            <a:off x="5623560" y="2395728"/>
            <a:ext cx="1737360" cy="822960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33" name="Shape 26"/>
          <p:cNvSpPr/>
          <p:nvPr/>
        </p:nvSpPr>
        <p:spPr>
          <a:xfrm>
            <a:off x="5623560" y="2395728"/>
            <a:ext cx="36576" cy="8229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0" y="2578608"/>
            <a:ext cx="274320" cy="27432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6126480" y="248716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Pillow (PIL)</a:t>
            </a:r>
            <a:endParaRPr lang="en-US" sz="1000" dirty="0"/>
          </a:p>
        </p:txBody>
      </p:sp>
      <p:sp>
        <p:nvSpPr>
          <p:cNvPr id="36" name="Text 28"/>
          <p:cNvSpPr/>
          <p:nvPr/>
        </p:nvSpPr>
        <p:spPr>
          <a:xfrm>
            <a:off x="6126480" y="2779776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annotation &amp; editing</a:t>
            </a:r>
            <a:endParaRPr lang="en-US" sz="800" dirty="0"/>
          </a:p>
        </p:txBody>
      </p:sp>
      <p:sp>
        <p:nvSpPr>
          <p:cNvPr id="37" name="Shape 29"/>
          <p:cNvSpPr/>
          <p:nvPr/>
        </p:nvSpPr>
        <p:spPr>
          <a:xfrm>
            <a:off x="7498080" y="2395728"/>
            <a:ext cx="1737360" cy="822960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38" name="Shape 30"/>
          <p:cNvSpPr/>
          <p:nvPr/>
        </p:nvSpPr>
        <p:spPr>
          <a:xfrm>
            <a:off x="7498080" y="2395728"/>
            <a:ext cx="36576" cy="82296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35240" y="2578608"/>
            <a:ext cx="274320" cy="274320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8001000" y="248716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python-docx</a:t>
            </a:r>
            <a:endParaRPr lang="en-US" sz="1000" dirty="0"/>
          </a:p>
        </p:txBody>
      </p:sp>
      <p:sp>
        <p:nvSpPr>
          <p:cNvPr id="41" name="Text 32"/>
          <p:cNvSpPr/>
          <p:nvPr/>
        </p:nvSpPr>
        <p:spPr>
          <a:xfrm>
            <a:off x="8001000" y="2779776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document generation</a:t>
            </a:r>
            <a:endParaRPr lang="en-US" sz="800" dirty="0"/>
          </a:p>
        </p:txBody>
      </p:sp>
      <p:sp>
        <p:nvSpPr>
          <p:cNvPr id="42" name="Shape 33"/>
          <p:cNvSpPr/>
          <p:nvPr/>
        </p:nvSpPr>
        <p:spPr>
          <a:xfrm>
            <a:off x="3749040" y="3328416"/>
            <a:ext cx="1737360" cy="822960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43" name="Shape 34"/>
          <p:cNvSpPr/>
          <p:nvPr/>
        </p:nvSpPr>
        <p:spPr>
          <a:xfrm>
            <a:off x="3749040" y="3328416"/>
            <a:ext cx="36576" cy="82296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4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86200" y="3511296"/>
            <a:ext cx="274320" cy="274320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4251960" y="341985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ReportLab</a:t>
            </a:r>
            <a:endParaRPr lang="en-US" sz="1000" dirty="0"/>
          </a:p>
        </p:txBody>
      </p:sp>
      <p:sp>
        <p:nvSpPr>
          <p:cNvPr id="46" name="Text 36"/>
          <p:cNvSpPr/>
          <p:nvPr/>
        </p:nvSpPr>
        <p:spPr>
          <a:xfrm>
            <a:off x="4251960" y="3712464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report generation</a:t>
            </a:r>
            <a:endParaRPr lang="en-US" sz="800" dirty="0"/>
          </a:p>
        </p:txBody>
      </p:sp>
      <p:sp>
        <p:nvSpPr>
          <p:cNvPr id="47" name="Shape 37"/>
          <p:cNvSpPr/>
          <p:nvPr/>
        </p:nvSpPr>
        <p:spPr>
          <a:xfrm>
            <a:off x="5623560" y="3328416"/>
            <a:ext cx="1737360" cy="822960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48" name="Shape 38"/>
          <p:cNvSpPr/>
          <p:nvPr/>
        </p:nvSpPr>
        <p:spPr>
          <a:xfrm>
            <a:off x="5623560" y="3328416"/>
            <a:ext cx="36576" cy="822960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4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60720" y="3511296"/>
            <a:ext cx="274320" cy="274320"/>
          </a:xfrm>
          <a:prstGeom prst="rect">
            <a:avLst/>
          </a:prstGeom>
        </p:spPr>
      </p:pic>
      <p:sp>
        <p:nvSpPr>
          <p:cNvPr id="50" name="Text 39"/>
          <p:cNvSpPr/>
          <p:nvPr/>
        </p:nvSpPr>
        <p:spPr>
          <a:xfrm>
            <a:off x="6126480" y="341985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PyAutoGUI</a:t>
            </a:r>
            <a:endParaRPr lang="en-US" sz="1000" dirty="0"/>
          </a:p>
        </p:txBody>
      </p:sp>
      <p:sp>
        <p:nvSpPr>
          <p:cNvPr id="51" name="Text 40"/>
          <p:cNvSpPr/>
          <p:nvPr/>
        </p:nvSpPr>
        <p:spPr>
          <a:xfrm>
            <a:off x="6126480" y="3712464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automation scripts</a:t>
            </a:r>
            <a:endParaRPr lang="en-US" sz="800" dirty="0"/>
          </a:p>
        </p:txBody>
      </p:sp>
      <p:sp>
        <p:nvSpPr>
          <p:cNvPr id="52" name="Shape 41"/>
          <p:cNvSpPr/>
          <p:nvPr/>
        </p:nvSpPr>
        <p:spPr>
          <a:xfrm>
            <a:off x="7498080" y="3328416"/>
            <a:ext cx="1737360" cy="822960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53" name="Shape 42"/>
          <p:cNvSpPr/>
          <p:nvPr/>
        </p:nvSpPr>
        <p:spPr>
          <a:xfrm>
            <a:off x="7498080" y="3328416"/>
            <a:ext cx="36576" cy="822960"/>
          </a:xfrm>
          <a:prstGeom prst="rect">
            <a:avLst/>
          </a:prstGeom>
          <a:solidFill>
            <a:srgbClr val="A855F7"/>
          </a:solidFill>
          <a:ln/>
        </p:spPr>
      </p:sp>
      <p:pic>
        <p:nvPicPr>
          <p:cNvPr id="5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35240" y="3511296"/>
            <a:ext cx="274320" cy="274320"/>
          </a:xfrm>
          <a:prstGeom prst="rect">
            <a:avLst/>
          </a:prstGeom>
        </p:spPr>
      </p:pic>
      <p:sp>
        <p:nvSpPr>
          <p:cNvPr id="55" name="Text 43"/>
          <p:cNvSpPr/>
          <p:nvPr/>
        </p:nvSpPr>
        <p:spPr>
          <a:xfrm>
            <a:off x="8001000" y="341985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PyInstaller</a:t>
            </a:r>
            <a:endParaRPr lang="en-US" sz="1000" dirty="0"/>
          </a:p>
        </p:txBody>
      </p:sp>
      <p:sp>
        <p:nvSpPr>
          <p:cNvPr id="56" name="Text 44"/>
          <p:cNvSpPr/>
          <p:nvPr/>
        </p:nvSpPr>
        <p:spPr>
          <a:xfrm>
            <a:off x="8001000" y="3712464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EXE packaging</a:t>
            </a:r>
            <a:endParaRPr lang="en-US" sz="800" dirty="0"/>
          </a:p>
        </p:txBody>
      </p:sp>
      <p:sp>
        <p:nvSpPr>
          <p:cNvPr id="57" name="Shape 45"/>
          <p:cNvSpPr/>
          <p:nvPr/>
        </p:nvSpPr>
        <p:spPr>
          <a:xfrm>
            <a:off x="640080" y="4297680"/>
            <a:ext cx="7863840" cy="502920"/>
          </a:xfrm>
          <a:prstGeom prst="rect">
            <a:avLst/>
          </a:prstGeom>
          <a:solidFill>
            <a:srgbClr val="252A37"/>
          </a:solidFill>
          <a:ln/>
        </p:spPr>
      </p:sp>
      <p:sp>
        <p:nvSpPr>
          <p:cNvPr id="58" name="Text 46"/>
          <p:cNvSpPr/>
          <p:nvPr/>
        </p:nvSpPr>
        <p:spPr>
          <a:xfrm>
            <a:off x="822960" y="42976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Architecture:  </a:t>
            </a:r>
            <a:pPr indent="0" marL="0">
              <a:buNone/>
            </a:pPr>
            <a:r>
              <a:rPr lang="en-US" sz="1000" dirty="0">
                <a:solidFill>
                  <a:srgbClr val="8B92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Modular MVC design  |  recorder.py (capture)  |  exporter.py (output)  |  ui.py (interface)  |  web_recorder.py (Playwright)  |  prompts.py (AI library)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C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Built-in AI Prompt Library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777240"/>
            <a:ext cx="2194560" cy="3657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ready-to-use prompts for any AI tool  —  just copy and paste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4754880" cy="411480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463040"/>
            <a:ext cx="36576" cy="41148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27048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4630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926080" y="14630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page, element, visual comparison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0080" y="1929384"/>
            <a:ext cx="4754880" cy="411480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11" name="Shape 8"/>
          <p:cNvSpPr/>
          <p:nvPr/>
        </p:nvSpPr>
        <p:spPr>
          <a:xfrm>
            <a:off x="640080" y="1929384"/>
            <a:ext cx="36576" cy="41148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93392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34440" y="1929384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Recording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2926080" y="192938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sessions with evidence capture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40080" y="2395728"/>
            <a:ext cx="4754880" cy="411480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16" name="Shape 12"/>
          <p:cNvSpPr/>
          <p:nvPr/>
        </p:nvSpPr>
        <p:spPr>
          <a:xfrm>
            <a:off x="640080" y="2395728"/>
            <a:ext cx="36576" cy="41148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459736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34440" y="239572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Viewer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2926080" y="239572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with DOM snapshots &amp; network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640080" y="2862072"/>
            <a:ext cx="4754880" cy="411480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21" name="Shape 16"/>
          <p:cNvSpPr/>
          <p:nvPr/>
        </p:nvSpPr>
        <p:spPr>
          <a:xfrm>
            <a:off x="640080" y="2862072"/>
            <a:ext cx="36576" cy="411480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926080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34440" y="286207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from Codegen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2926080" y="286207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up, POM, data-driven tests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640080" y="3328416"/>
            <a:ext cx="4754880" cy="411480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26" name="Shape 20"/>
          <p:cNvSpPr/>
          <p:nvPr/>
        </p:nvSpPr>
        <p:spPr>
          <a:xfrm>
            <a:off x="640080" y="3328416"/>
            <a:ext cx="36576" cy="411480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392424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234440" y="3328416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Network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2926080" y="3328416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Intercept, validate, mock responses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640080" y="3794760"/>
            <a:ext cx="4754880" cy="411480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31" name="Shape 24"/>
          <p:cNvSpPr/>
          <p:nvPr/>
        </p:nvSpPr>
        <p:spPr>
          <a:xfrm>
            <a:off x="640080" y="3794760"/>
            <a:ext cx="36576" cy="411480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3858768"/>
            <a:ext cx="274320" cy="27432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234440" y="37947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Sessions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2926080" y="37947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login, saved state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640080" y="4261104"/>
            <a:ext cx="4754880" cy="411480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36" name="Shape 28"/>
          <p:cNvSpPr/>
          <p:nvPr/>
        </p:nvSpPr>
        <p:spPr>
          <a:xfrm>
            <a:off x="640080" y="4261104"/>
            <a:ext cx="36576" cy="411480"/>
          </a:xfrm>
          <a:prstGeom prst="rect">
            <a:avLst/>
          </a:prstGeom>
          <a:solidFill>
            <a:srgbClr val="A855F7"/>
          </a:solidFill>
          <a:ln/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4325112"/>
            <a:ext cx="274320" cy="27432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1234440" y="4261104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&amp; Reporting</a:t>
            </a:r>
            <a:endParaRPr lang="en-US" sz="1100" dirty="0"/>
          </a:p>
        </p:txBody>
      </p:sp>
      <p:sp>
        <p:nvSpPr>
          <p:cNvPr id="39" name="Text 30"/>
          <p:cNvSpPr/>
          <p:nvPr/>
        </p:nvSpPr>
        <p:spPr>
          <a:xfrm>
            <a:off x="2926080" y="426110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Actions, HTML reports</a:t>
            </a:r>
            <a:endParaRPr lang="en-US" sz="1000" dirty="0"/>
          </a:p>
        </p:txBody>
      </p:sp>
      <p:sp>
        <p:nvSpPr>
          <p:cNvPr id="40" name="Shape 31"/>
          <p:cNvSpPr/>
          <p:nvPr/>
        </p:nvSpPr>
        <p:spPr>
          <a:xfrm>
            <a:off x="640080" y="4727448"/>
            <a:ext cx="4754880" cy="411480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41" name="Shape 32"/>
          <p:cNvSpPr/>
          <p:nvPr/>
        </p:nvSpPr>
        <p:spPr>
          <a:xfrm>
            <a:off x="640080" y="4727448"/>
            <a:ext cx="36576" cy="411480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" y="4791456"/>
            <a:ext cx="274320" cy="274320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1234440" y="472744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&amp; Perf</a:t>
            </a:r>
            <a:endParaRPr lang="en-US" sz="1100" dirty="0"/>
          </a:p>
        </p:txBody>
      </p:sp>
      <p:sp>
        <p:nvSpPr>
          <p:cNvPr id="44" name="Text 34"/>
          <p:cNvSpPr/>
          <p:nvPr/>
        </p:nvSpPr>
        <p:spPr>
          <a:xfrm>
            <a:off x="2926080" y="472744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 audits, Web Vitals metrics</a:t>
            </a:r>
            <a:endParaRPr lang="en-US" sz="1000" dirty="0"/>
          </a:p>
        </p:txBody>
      </p:sp>
      <p:sp>
        <p:nvSpPr>
          <p:cNvPr id="45" name="Shape 35"/>
          <p:cNvSpPr/>
          <p:nvPr/>
        </p:nvSpPr>
        <p:spPr>
          <a:xfrm>
            <a:off x="5669280" y="1463040"/>
            <a:ext cx="3200400" cy="3291840"/>
          </a:xfrm>
          <a:prstGeom prst="rect">
            <a:avLst/>
          </a:prstGeom>
          <a:solidFill>
            <a:srgbClr val="1A1D2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6" name="Text 36"/>
          <p:cNvSpPr/>
          <p:nvPr/>
        </p:nvSpPr>
        <p:spPr>
          <a:xfrm>
            <a:off x="5943600" y="1645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</a:t>
            </a:r>
            <a:endParaRPr lang="en-US" sz="1400" dirty="0"/>
          </a:p>
        </p:txBody>
      </p:sp>
      <p:sp>
        <p:nvSpPr>
          <p:cNvPr id="47" name="Shape 37"/>
          <p:cNvSpPr/>
          <p:nvPr/>
        </p:nvSpPr>
        <p:spPr>
          <a:xfrm>
            <a:off x="5943600" y="1965960"/>
            <a:ext cx="2651760" cy="18288"/>
          </a:xfrm>
          <a:prstGeom prst="rect">
            <a:avLst/>
          </a:prstGeom>
          <a:solidFill>
            <a:srgbClr val="2A2F3E"/>
          </a:solidFill>
          <a:ln/>
        </p:spPr>
      </p:sp>
      <p:sp>
        <p:nvSpPr>
          <p:cNvPr id="48" name="Shape 38"/>
          <p:cNvSpPr/>
          <p:nvPr/>
        </p:nvSpPr>
        <p:spPr>
          <a:xfrm>
            <a:off x="5943600" y="2148840"/>
            <a:ext cx="320040" cy="32004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49" name="Text 39"/>
          <p:cNvSpPr/>
          <p:nvPr/>
        </p:nvSpPr>
        <p:spPr>
          <a:xfrm>
            <a:off x="5943600" y="2148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50" name="Text 40"/>
          <p:cNvSpPr/>
          <p:nvPr/>
        </p:nvSpPr>
        <p:spPr>
          <a:xfrm>
            <a:off x="6400800" y="21488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Prompt Library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FlowTrace main screen</a:t>
            </a:r>
            <a:endParaRPr lang="en-US" sz="1000" dirty="0"/>
          </a:p>
        </p:txBody>
      </p:sp>
      <p:sp>
        <p:nvSpPr>
          <p:cNvPr id="51" name="Shape 41"/>
          <p:cNvSpPr/>
          <p:nvPr/>
        </p:nvSpPr>
        <p:spPr>
          <a:xfrm>
            <a:off x="5943600" y="2651760"/>
            <a:ext cx="320040" cy="32004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52" name="Text 42"/>
          <p:cNvSpPr/>
          <p:nvPr/>
        </p:nvSpPr>
        <p:spPr>
          <a:xfrm>
            <a:off x="5943600" y="2651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53" name="Text 43"/>
          <p:cNvSpPr/>
          <p:nvPr/>
        </p:nvSpPr>
        <p:spPr>
          <a:xfrm>
            <a:off x="6400800" y="2651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categories or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topic</a:t>
            </a:r>
            <a:endParaRPr lang="en-US" sz="1000" dirty="0"/>
          </a:p>
        </p:txBody>
      </p:sp>
      <p:sp>
        <p:nvSpPr>
          <p:cNvPr id="54" name="Shape 44"/>
          <p:cNvSpPr/>
          <p:nvPr/>
        </p:nvSpPr>
        <p:spPr>
          <a:xfrm>
            <a:off x="5943600" y="3154680"/>
            <a:ext cx="320040" cy="32004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55" name="Text 45"/>
          <p:cNvSpPr/>
          <p:nvPr/>
        </p:nvSpPr>
        <p:spPr>
          <a:xfrm>
            <a:off x="5943600" y="3154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56" name="Text 46"/>
          <p:cNvSpPr/>
          <p:nvPr/>
        </p:nvSpPr>
        <p:spPr>
          <a:xfrm>
            <a:off x="6400800" y="31546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'Copy' on any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card</a:t>
            </a:r>
            <a:endParaRPr lang="en-US" sz="1000" dirty="0"/>
          </a:p>
        </p:txBody>
      </p:sp>
      <p:sp>
        <p:nvSpPr>
          <p:cNvPr id="57" name="Shape 47"/>
          <p:cNvSpPr/>
          <p:nvPr/>
        </p:nvSpPr>
        <p:spPr>
          <a:xfrm>
            <a:off x="5943600" y="3657600"/>
            <a:ext cx="320040" cy="32004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58" name="Text 48"/>
          <p:cNvSpPr/>
          <p:nvPr/>
        </p:nvSpPr>
        <p:spPr>
          <a:xfrm>
            <a:off x="5943600" y="3657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9" name="Text 49"/>
          <p:cNvSpPr/>
          <p:nvPr/>
        </p:nvSpPr>
        <p:spPr>
          <a:xfrm>
            <a:off x="6400800" y="3657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into ChatGPT,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Claude, or any AI tool</a:t>
            </a:r>
            <a:endParaRPr lang="en-US" sz="1000" dirty="0"/>
          </a:p>
        </p:txBody>
      </p:sp>
      <p:sp>
        <p:nvSpPr>
          <p:cNvPr id="60" name="Shape 50"/>
          <p:cNvSpPr/>
          <p:nvPr/>
        </p:nvSpPr>
        <p:spPr>
          <a:xfrm>
            <a:off x="5943600" y="4160520"/>
            <a:ext cx="320040" cy="32004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61" name="Text 51"/>
          <p:cNvSpPr/>
          <p:nvPr/>
        </p:nvSpPr>
        <p:spPr>
          <a:xfrm>
            <a:off x="5943600" y="4160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62" name="Text 52"/>
          <p:cNvSpPr/>
          <p:nvPr/>
        </p:nvSpPr>
        <p:spPr>
          <a:xfrm>
            <a:off x="6400800" y="41605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production-ready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test code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45720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82296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943600" y="118872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943600" y="155448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943600" y="192024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943600" y="228600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943600" y="265176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0" y="301752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0" y="338328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0" y="374904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0" y="411480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5943600" y="448056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309360" y="45720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309360" y="82296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309360" y="118872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309360" y="155448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309360" y="192024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309360" y="228600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309360" y="265176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309360" y="301752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309360" y="338328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309360" y="374904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309360" y="411480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309360" y="448056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675120" y="45720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0" y="82296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675120" y="118872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675120" y="155448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675120" y="192024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675120" y="228600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675120" y="265176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675120" y="301752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0" y="338328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675120" y="374904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675120" y="411480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675120" y="448056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040880" y="45720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7040880" y="82296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040880" y="118872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040880" y="155448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7040880" y="192024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040880" y="228600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040880" y="265176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040880" y="301752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040880" y="338328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040880" y="374904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040880" y="411480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040880" y="448056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406640" y="45720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406640" y="82296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406640" y="118872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406640" y="155448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406640" y="192024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406640" y="228600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406640" y="265176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406640" y="301752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7406640" y="338328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406640" y="374904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7406640" y="411480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7406640" y="448056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7772400" y="45720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7772400" y="82296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7772400" y="118872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7772400" y="155448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7772400" y="192024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7772400" y="228600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7772400" y="265176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7772400" y="301752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7772400" y="338328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7772400" y="374904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7772400" y="411480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7772400" y="448056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8138160" y="45720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8138160" y="82296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8138160" y="118872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78" name="Shape 76"/>
          <p:cNvSpPr/>
          <p:nvPr/>
        </p:nvSpPr>
        <p:spPr>
          <a:xfrm>
            <a:off x="8138160" y="155448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79" name="Shape 77"/>
          <p:cNvSpPr/>
          <p:nvPr/>
        </p:nvSpPr>
        <p:spPr>
          <a:xfrm>
            <a:off x="8138160" y="192024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80" name="Shape 78"/>
          <p:cNvSpPr/>
          <p:nvPr/>
        </p:nvSpPr>
        <p:spPr>
          <a:xfrm>
            <a:off x="8138160" y="228600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81" name="Shape 79"/>
          <p:cNvSpPr/>
          <p:nvPr/>
        </p:nvSpPr>
        <p:spPr>
          <a:xfrm>
            <a:off x="8138160" y="265176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82" name="Shape 80"/>
          <p:cNvSpPr/>
          <p:nvPr/>
        </p:nvSpPr>
        <p:spPr>
          <a:xfrm>
            <a:off x="8138160" y="301752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83" name="Shape 81"/>
          <p:cNvSpPr/>
          <p:nvPr/>
        </p:nvSpPr>
        <p:spPr>
          <a:xfrm>
            <a:off x="8138160" y="338328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84" name="Shape 82"/>
          <p:cNvSpPr/>
          <p:nvPr/>
        </p:nvSpPr>
        <p:spPr>
          <a:xfrm>
            <a:off x="8138160" y="374904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85" name="Shape 83"/>
          <p:cNvSpPr/>
          <p:nvPr/>
        </p:nvSpPr>
        <p:spPr>
          <a:xfrm>
            <a:off x="8138160" y="411480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86" name="Shape 84"/>
          <p:cNvSpPr/>
          <p:nvPr/>
        </p:nvSpPr>
        <p:spPr>
          <a:xfrm>
            <a:off x="8138160" y="448056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87" name="Shape 85"/>
          <p:cNvSpPr/>
          <p:nvPr/>
        </p:nvSpPr>
        <p:spPr>
          <a:xfrm>
            <a:off x="8503920" y="45720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88" name="Shape 86"/>
          <p:cNvSpPr/>
          <p:nvPr/>
        </p:nvSpPr>
        <p:spPr>
          <a:xfrm>
            <a:off x="8503920" y="82296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89" name="Shape 87"/>
          <p:cNvSpPr/>
          <p:nvPr/>
        </p:nvSpPr>
        <p:spPr>
          <a:xfrm>
            <a:off x="8503920" y="118872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90" name="Shape 88"/>
          <p:cNvSpPr/>
          <p:nvPr/>
        </p:nvSpPr>
        <p:spPr>
          <a:xfrm>
            <a:off x="8503920" y="155448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91" name="Shape 89"/>
          <p:cNvSpPr/>
          <p:nvPr/>
        </p:nvSpPr>
        <p:spPr>
          <a:xfrm>
            <a:off x="8503920" y="192024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92" name="Shape 90"/>
          <p:cNvSpPr/>
          <p:nvPr/>
        </p:nvSpPr>
        <p:spPr>
          <a:xfrm>
            <a:off x="8503920" y="228600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93" name="Shape 91"/>
          <p:cNvSpPr/>
          <p:nvPr/>
        </p:nvSpPr>
        <p:spPr>
          <a:xfrm>
            <a:off x="8503920" y="265176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94" name="Shape 92"/>
          <p:cNvSpPr/>
          <p:nvPr/>
        </p:nvSpPr>
        <p:spPr>
          <a:xfrm>
            <a:off x="8503920" y="301752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95" name="Shape 93"/>
          <p:cNvSpPr/>
          <p:nvPr/>
        </p:nvSpPr>
        <p:spPr>
          <a:xfrm>
            <a:off x="8503920" y="338328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96" name="Shape 94"/>
          <p:cNvSpPr/>
          <p:nvPr/>
        </p:nvSpPr>
        <p:spPr>
          <a:xfrm>
            <a:off x="8503920" y="374904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97" name="Shape 95"/>
          <p:cNvSpPr/>
          <p:nvPr/>
        </p:nvSpPr>
        <p:spPr>
          <a:xfrm>
            <a:off x="8503920" y="411480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98" name="Shape 96"/>
          <p:cNvSpPr/>
          <p:nvPr/>
        </p:nvSpPr>
        <p:spPr>
          <a:xfrm>
            <a:off x="8503920" y="448056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99" name="Shape 97"/>
          <p:cNvSpPr/>
          <p:nvPr/>
        </p:nvSpPr>
        <p:spPr>
          <a:xfrm>
            <a:off x="8869680" y="45720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100" name="Shape 98"/>
          <p:cNvSpPr/>
          <p:nvPr/>
        </p:nvSpPr>
        <p:spPr>
          <a:xfrm>
            <a:off x="8869680" y="82296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101" name="Shape 99"/>
          <p:cNvSpPr/>
          <p:nvPr/>
        </p:nvSpPr>
        <p:spPr>
          <a:xfrm>
            <a:off x="8869680" y="118872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102" name="Shape 100"/>
          <p:cNvSpPr/>
          <p:nvPr/>
        </p:nvSpPr>
        <p:spPr>
          <a:xfrm>
            <a:off x="8869680" y="155448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103" name="Shape 101"/>
          <p:cNvSpPr/>
          <p:nvPr/>
        </p:nvSpPr>
        <p:spPr>
          <a:xfrm>
            <a:off x="8869680" y="192024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104" name="Shape 102"/>
          <p:cNvSpPr/>
          <p:nvPr/>
        </p:nvSpPr>
        <p:spPr>
          <a:xfrm>
            <a:off x="8869680" y="228600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105" name="Shape 103"/>
          <p:cNvSpPr/>
          <p:nvPr/>
        </p:nvSpPr>
        <p:spPr>
          <a:xfrm>
            <a:off x="8869680" y="265176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106" name="Shape 104"/>
          <p:cNvSpPr/>
          <p:nvPr/>
        </p:nvSpPr>
        <p:spPr>
          <a:xfrm>
            <a:off x="8869680" y="301752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107" name="Shape 105"/>
          <p:cNvSpPr/>
          <p:nvPr/>
        </p:nvSpPr>
        <p:spPr>
          <a:xfrm>
            <a:off x="8869680" y="338328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108" name="Shape 106"/>
          <p:cNvSpPr/>
          <p:nvPr/>
        </p:nvSpPr>
        <p:spPr>
          <a:xfrm>
            <a:off x="8869680" y="374904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109" name="Shape 107"/>
          <p:cNvSpPr/>
          <p:nvPr/>
        </p:nvSpPr>
        <p:spPr>
          <a:xfrm>
            <a:off x="8869680" y="411480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110" name="Shape 108"/>
          <p:cNvSpPr/>
          <p:nvPr/>
        </p:nvSpPr>
        <p:spPr>
          <a:xfrm>
            <a:off x="8869680" y="4480560"/>
            <a:ext cx="36576" cy="36576"/>
          </a:xfrm>
          <a:prstGeom prst="ellipse">
            <a:avLst/>
          </a:prstGeom>
          <a:solidFill>
            <a:srgbClr val="2A2F3E">
              <a:alpha val="40000"/>
            </a:srgbClr>
          </a:solidFill>
          <a:ln/>
        </p:spPr>
      </p:sp>
      <p:sp>
        <p:nvSpPr>
          <p:cNvPr id="111" name="Text 109"/>
          <p:cNvSpPr/>
          <p:nvPr/>
        </p:nvSpPr>
        <p:spPr>
          <a:xfrm>
            <a:off x="731520" y="9144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EC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112" name="Shape 110"/>
          <p:cNvSpPr/>
          <p:nvPr/>
        </p:nvSpPr>
        <p:spPr>
          <a:xfrm>
            <a:off x="731520" y="1874520"/>
            <a:ext cx="18288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3" name="Text 111"/>
          <p:cNvSpPr/>
          <p:nvPr/>
        </p:nvSpPr>
        <p:spPr>
          <a:xfrm>
            <a:off x="731520" y="2103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transform your testing workflow?</a:t>
            </a:r>
            <a:endParaRPr lang="en-US" sz="1600" dirty="0"/>
          </a:p>
        </p:txBody>
      </p:sp>
      <p:sp>
        <p:nvSpPr>
          <p:cNvPr id="114" name="Shape 112"/>
          <p:cNvSpPr/>
          <p:nvPr/>
        </p:nvSpPr>
        <p:spPr>
          <a:xfrm>
            <a:off x="731520" y="2834640"/>
            <a:ext cx="4114800" cy="457200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115" name="Shape 113"/>
          <p:cNvSpPr/>
          <p:nvPr/>
        </p:nvSpPr>
        <p:spPr>
          <a:xfrm>
            <a:off x="731520" y="2834640"/>
            <a:ext cx="36576" cy="457200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1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926080"/>
            <a:ext cx="274320" cy="274320"/>
          </a:xfrm>
          <a:prstGeom prst="rect">
            <a:avLst/>
          </a:prstGeom>
        </p:spPr>
      </p:pic>
      <p:sp>
        <p:nvSpPr>
          <p:cNvPr id="117" name="Text 114"/>
          <p:cNvSpPr/>
          <p:nvPr/>
        </p:nvSpPr>
        <p:spPr>
          <a:xfrm>
            <a:off x="1325880" y="2834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118" name="Text 115"/>
          <p:cNvSpPr/>
          <p:nvPr/>
        </p:nvSpPr>
        <p:spPr>
          <a:xfrm>
            <a:off x="2651760" y="28346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FlowTrace in action</a:t>
            </a:r>
            <a:endParaRPr lang="en-US" sz="1000" dirty="0"/>
          </a:p>
        </p:txBody>
      </p:sp>
      <p:sp>
        <p:nvSpPr>
          <p:cNvPr id="119" name="Shape 116"/>
          <p:cNvSpPr/>
          <p:nvPr/>
        </p:nvSpPr>
        <p:spPr>
          <a:xfrm>
            <a:off x="731520" y="3383280"/>
            <a:ext cx="4114800" cy="457200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120" name="Shape 117"/>
          <p:cNvSpPr/>
          <p:nvPr/>
        </p:nvSpPr>
        <p:spPr>
          <a:xfrm>
            <a:off x="731520" y="3383280"/>
            <a:ext cx="36576" cy="45720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474720"/>
            <a:ext cx="274320" cy="274320"/>
          </a:xfrm>
          <a:prstGeom prst="rect">
            <a:avLst/>
          </a:prstGeom>
        </p:spPr>
      </p:pic>
      <p:sp>
        <p:nvSpPr>
          <p:cNvPr id="122" name="Text 118"/>
          <p:cNvSpPr/>
          <p:nvPr/>
        </p:nvSpPr>
        <p:spPr>
          <a:xfrm>
            <a:off x="1325880" y="33832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Today</a:t>
            </a:r>
            <a:endParaRPr lang="en-US" sz="1200" dirty="0"/>
          </a:p>
        </p:txBody>
      </p:sp>
      <p:sp>
        <p:nvSpPr>
          <p:cNvPr id="123" name="Text 119"/>
          <p:cNvSpPr/>
          <p:nvPr/>
        </p:nvSpPr>
        <p:spPr>
          <a:xfrm>
            <a:off x="2651760" y="33832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EXE, no install needed</a:t>
            </a:r>
            <a:endParaRPr lang="en-US" sz="1000" dirty="0"/>
          </a:p>
        </p:txBody>
      </p:sp>
      <p:sp>
        <p:nvSpPr>
          <p:cNvPr id="124" name="Shape 120"/>
          <p:cNvSpPr/>
          <p:nvPr/>
        </p:nvSpPr>
        <p:spPr>
          <a:xfrm>
            <a:off x="731520" y="3931920"/>
            <a:ext cx="4114800" cy="457200"/>
          </a:xfrm>
          <a:prstGeom prst="rect">
            <a:avLst/>
          </a:prstGeom>
          <a:solidFill>
            <a:srgbClr val="1A1D27"/>
          </a:solidFill>
          <a:ln/>
        </p:spPr>
      </p:sp>
      <p:sp>
        <p:nvSpPr>
          <p:cNvPr id="125" name="Shape 121"/>
          <p:cNvSpPr/>
          <p:nvPr/>
        </p:nvSpPr>
        <p:spPr>
          <a:xfrm>
            <a:off x="731520" y="3931920"/>
            <a:ext cx="36576" cy="457200"/>
          </a:xfrm>
          <a:prstGeom prst="rect">
            <a:avLst/>
          </a:prstGeom>
          <a:solidFill>
            <a:srgbClr val="A855F7"/>
          </a:solidFill>
          <a:ln/>
        </p:spPr>
      </p:sp>
      <p:pic>
        <p:nvPicPr>
          <p:cNvPr id="1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023360"/>
            <a:ext cx="274320" cy="274320"/>
          </a:xfrm>
          <a:prstGeom prst="rect">
            <a:avLst/>
          </a:prstGeom>
        </p:spPr>
      </p:pic>
      <p:sp>
        <p:nvSpPr>
          <p:cNvPr id="127" name="Text 122"/>
          <p:cNvSpPr/>
          <p:nvPr/>
        </p:nvSpPr>
        <p:spPr>
          <a:xfrm>
            <a:off x="1325880" y="3931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Program</a:t>
            </a:r>
            <a:endParaRPr lang="en-US" sz="1200" dirty="0"/>
          </a:p>
        </p:txBody>
      </p:sp>
      <p:sp>
        <p:nvSpPr>
          <p:cNvPr id="128" name="Text 123"/>
          <p:cNvSpPr/>
          <p:nvPr/>
        </p:nvSpPr>
        <p:spPr>
          <a:xfrm>
            <a:off x="2651760" y="39319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your QA team this week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FlowTrace - Test Evidence Recorder</dc:title>
  <dc:subject>PptxGenJS Presentation</dc:subject>
  <dc:creator>FlowTrace</dc:creator>
  <cp:lastModifiedBy>FlowTrace</cp:lastModifiedBy>
  <cp:revision>1</cp:revision>
  <dcterms:created xsi:type="dcterms:W3CDTF">2026-04-04T19:02:19Z</dcterms:created>
  <dcterms:modified xsi:type="dcterms:W3CDTF">2026-04-04T19:02:19Z</dcterms:modified>
</cp:coreProperties>
</file>